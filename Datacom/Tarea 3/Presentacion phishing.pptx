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JS1iltbkz+f/VXqctG4qtm8nW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0738baa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0738baa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1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1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1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1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3750" y="1322450"/>
            <a:ext cx="8032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33"/>
              <a:t>Familiarize yourself with phishing attacks</a:t>
            </a:r>
            <a:endParaRPr sz="2933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highlight>
                  <a:srgbClr val="FFFF00"/>
                </a:highlight>
              </a:rPr>
              <a:t>La </a:t>
            </a:r>
            <a:r>
              <a:rPr lang="en" sz="1600">
                <a:highlight>
                  <a:srgbClr val="FFFF00"/>
                </a:highlight>
              </a:rPr>
              <a:t>misión</a:t>
            </a:r>
            <a:r>
              <a:rPr lang="en" sz="1600">
                <a:highlight>
                  <a:srgbClr val="FFFF00"/>
                </a:highlight>
              </a:rPr>
              <a:t> de esta diapositiva es mostrar que nadie </a:t>
            </a:r>
            <a:r>
              <a:rPr lang="en" sz="1600">
                <a:highlight>
                  <a:srgbClr val="FFFF00"/>
                </a:highlight>
              </a:rPr>
              <a:t>está</a:t>
            </a:r>
            <a:r>
              <a:rPr lang="en" sz="1600">
                <a:highlight>
                  <a:srgbClr val="FFFF00"/>
                </a:highlight>
              </a:rPr>
              <a:t> salvo de un ataque de </a:t>
            </a:r>
            <a:r>
              <a:rPr lang="en" sz="1600">
                <a:highlight>
                  <a:srgbClr val="FFFF00"/>
                </a:highlight>
              </a:rPr>
              <a:t>phishing</a:t>
            </a:r>
            <a:endParaRPr sz="1600">
              <a:highlight>
                <a:srgbClr val="FFFF00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highlight>
                  <a:srgbClr val="FFFF00"/>
                </a:highlight>
              </a:rPr>
              <a:t> Desafortunadamente en donde ocurren mayor casos de </a:t>
            </a:r>
            <a:r>
              <a:rPr lang="en" sz="1600">
                <a:highlight>
                  <a:srgbClr val="FFFF00"/>
                </a:highlight>
              </a:rPr>
              <a:t>phishing</a:t>
            </a:r>
            <a:r>
              <a:rPr lang="en" sz="1600">
                <a:highlight>
                  <a:srgbClr val="FFFF00"/>
                </a:highlight>
              </a:rPr>
              <a:t> ha sido en los </a:t>
            </a:r>
            <a:r>
              <a:rPr lang="en" sz="1600">
                <a:highlight>
                  <a:srgbClr val="FFFF00"/>
                </a:highlight>
              </a:rPr>
              <a:t>equipos</a:t>
            </a:r>
            <a:r>
              <a:rPr lang="en" sz="1600">
                <a:highlight>
                  <a:srgbClr val="FFFF00"/>
                </a:highlight>
              </a:rPr>
              <a:t> de marketing y RRHH</a:t>
            </a:r>
            <a:endParaRPr sz="1600">
              <a:highlight>
                <a:srgbClr val="FFFF00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highlight>
                  <a:srgbClr val="FFFF00"/>
                </a:highlight>
              </a:rPr>
              <a:t>Los ejecutivos a diferencia de marketing y RRHH son </a:t>
            </a:r>
            <a:r>
              <a:rPr lang="en" sz="1600">
                <a:highlight>
                  <a:srgbClr val="FFFF00"/>
                </a:highlight>
              </a:rPr>
              <a:t>víctimas</a:t>
            </a:r>
            <a:r>
              <a:rPr lang="en" sz="1600">
                <a:highlight>
                  <a:srgbClr val="FFFF00"/>
                </a:highlight>
              </a:rPr>
              <a:t> de un phishing dirigido (</a:t>
            </a:r>
            <a:r>
              <a:rPr lang="en" sz="1600">
                <a:highlight>
                  <a:srgbClr val="FFFF00"/>
                </a:highlight>
              </a:rPr>
              <a:t>Whaling)</a:t>
            </a:r>
            <a:endParaRPr sz="16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esta diapositiva" id="91" name="Google Shape;91;g3b0738baa9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2857"/>
              <a:buNone/>
            </a:pPr>
            <a:r>
              <a:rPr lang="en" sz="1400">
                <a:highlight>
                  <a:srgbClr val="FFFF00"/>
                </a:highlight>
              </a:rPr>
              <a:t>Los ciberdelincuentes utilizan diversas formas de generar </a:t>
            </a:r>
            <a:r>
              <a:rPr lang="en" sz="1400">
                <a:highlight>
                  <a:srgbClr val="FFFF00"/>
                </a:highlight>
              </a:rPr>
              <a:t>pánico</a:t>
            </a:r>
            <a:r>
              <a:rPr lang="en" sz="1400">
                <a:highlight>
                  <a:srgbClr val="FFFF00"/>
                </a:highlight>
              </a:rPr>
              <a:t> en un usuario. Una de las acciones que utilizan es lo siguiente:</a:t>
            </a:r>
            <a:endParaRPr sz="14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2857"/>
              <a:buNone/>
            </a:pPr>
            <a:r>
              <a:rPr lang="en" sz="1400">
                <a:highlight>
                  <a:srgbClr val="FFFF00"/>
                </a:highlight>
              </a:rPr>
              <a:t>-Incentivar el pánico en el correo, buscan que el usuario se sienta “presionado” para la toma de decisiones.</a:t>
            </a:r>
            <a:endParaRPr sz="14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2857"/>
              <a:buNone/>
            </a:pPr>
            <a:r>
              <a:rPr lang="en" sz="1400">
                <a:highlight>
                  <a:srgbClr val="FFFF00"/>
                </a:highlight>
              </a:rPr>
              <a:t>-Incitar al usuario a través de un premio, se busca que el usuario presione sobre el sitio a través de una recompensa.</a:t>
            </a:r>
            <a:endParaRPr sz="14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2857"/>
              <a:buNone/>
            </a:pPr>
            <a:r>
              <a:rPr lang="en" sz="1400">
                <a:highlight>
                  <a:srgbClr val="FFFF00"/>
                </a:highlight>
              </a:rPr>
              <a:t>-Instaurar miedo a través de una autoridad, muchas veces los ciberdelincuentes buscan a través de gerentes/jefes generar miedo en el usuario, ya que si dicho correo es enviado por un gerente de la empresa el usuario no cuestiona de su veracidad.</a:t>
            </a:r>
            <a:endParaRPr sz="1400">
              <a:highlight>
                <a:srgbClr val="FFFF00"/>
              </a:highlight>
            </a:endParaRPr>
          </a:p>
        </p:txBody>
      </p:sp>
      <p:sp>
        <p:nvSpPr>
          <p:cNvPr id="97" name="Google Shape;97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Learn to spot phishing emails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How do we stop getting phished?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400">
                <a:highlight>
                  <a:srgbClr val="FFFF00"/>
                </a:highlight>
              </a:rPr>
              <a:t>Las formas de prevenir el phishing son las siguientes:</a:t>
            </a:r>
            <a:endParaRPr sz="14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400">
                <a:highlight>
                  <a:srgbClr val="FFFF00"/>
                </a:highlight>
              </a:rPr>
              <a:t>-Consultar al encargado de TI/gerente/Jefe respecto al correo enviado, así se asegura de la veracidad del mismo.</a:t>
            </a:r>
            <a:endParaRPr sz="14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400">
                <a:highlight>
                  <a:srgbClr val="FFFF00"/>
                </a:highlight>
              </a:rPr>
              <a:t>-Simular ejercicios de manera recurrente con respecto al phishing.</a:t>
            </a:r>
            <a:endParaRPr sz="14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 sz="1400">
                <a:highlight>
                  <a:srgbClr val="FFFF00"/>
                </a:highlight>
              </a:rPr>
              <a:t>-Capacitar al personal para que tenga </a:t>
            </a:r>
            <a:r>
              <a:rPr lang="en" sz="1400">
                <a:highlight>
                  <a:srgbClr val="FFFF00"/>
                </a:highlight>
              </a:rPr>
              <a:t>conciencia</a:t>
            </a:r>
            <a:r>
              <a:rPr lang="en" sz="1400">
                <a:highlight>
                  <a:srgbClr val="FFFF00"/>
                </a:highlight>
              </a:rPr>
              <a:t> respecto al daño que puede ocasionar un phishing.</a:t>
            </a:r>
            <a:endParaRPr sz="14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